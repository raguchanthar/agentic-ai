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68" r:id="rId4"/>
    <p:sldId id="369" r:id="rId5"/>
    <p:sldId id="373" r:id="rId6"/>
    <p:sldId id="370" r:id="rId7"/>
    <p:sldId id="374" r:id="rId8"/>
    <p:sldId id="379" r:id="rId9"/>
    <p:sldId id="375" r:id="rId10"/>
    <p:sldId id="377" r:id="rId11"/>
    <p:sldId id="378" r:id="rId12"/>
    <p:sldId id="383" r:id="rId13"/>
    <p:sldId id="380" r:id="rId14"/>
    <p:sldId id="381" r:id="rId15"/>
    <p:sldId id="382" r:id="rId16"/>
    <p:sldId id="385" r:id="rId17"/>
    <p:sldId id="386" r:id="rId18"/>
    <p:sldId id="384" r:id="rId19"/>
    <p:sldId id="3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9" d="100"/>
          <a:sy n="89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691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sz="3800" b="1" dirty="0" err="1">
                <a:solidFill>
                  <a:srgbClr val="7030A0"/>
                </a:solidFill>
              </a:rPr>
              <a:t>FinSight</a:t>
            </a:r>
            <a:r>
              <a:rPr lang="en-IN" sz="3800" b="1" dirty="0">
                <a:solidFill>
                  <a:srgbClr val="7030A0"/>
                </a:solidFill>
              </a:rPr>
              <a:t> — An Agentic AI Based Financial Research &amp; Analysis System</a:t>
            </a:r>
            <a:endParaRPr lang="en-IN" sz="3800" dirty="0">
              <a:solidFill>
                <a:srgbClr val="7030A0"/>
              </a:solidFill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962889" y="5183902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 err="1">
                <a:solidFill>
                  <a:srgbClr val="FF0000"/>
                </a:solidFill>
              </a:rPr>
              <a:t>r.M.Soundarya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5796951" y="4816828"/>
            <a:ext cx="639504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 err="1">
                <a:solidFill>
                  <a:srgbClr val="FF0000"/>
                </a:solidFill>
              </a:rPr>
              <a:t>Kishanthraja</a:t>
            </a:r>
            <a:r>
              <a:rPr lang="en-IN" altLang="en-US" sz="2400" b="1" dirty="0">
                <a:solidFill>
                  <a:srgbClr val="FF0000"/>
                </a:solidFill>
              </a:rPr>
              <a:t> M               231501077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IN" altLang="en-US" sz="2400" b="1" dirty="0" err="1">
                <a:solidFill>
                  <a:srgbClr val="FF0000"/>
                </a:solidFill>
              </a:rPr>
              <a:t>Raguchanthar</a:t>
            </a:r>
            <a:r>
              <a:rPr lang="en-IN" altLang="en-US" sz="2400" b="1" dirty="0">
                <a:solidFill>
                  <a:srgbClr val="FF0000"/>
                </a:solidFill>
              </a:rPr>
              <a:t>                 231501126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Mervin Anto Santhosh A 231501099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</a:t>
            </a:r>
            <a:r>
              <a:rPr lang="en-US" alt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Artificial Intelligence and Machine Learning</a:t>
            </a:r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123" y="159037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187" y="311150"/>
            <a:ext cx="10668000" cy="1216025"/>
          </a:xfrm>
        </p:spPr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research requires information from multiple sources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financial reports, market data, company filings, and news.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financial analysis is time-consuming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makes it difficult to efficiently combine and compare information from different sources.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LLM and basic RAG systems may provide incomplete or unsupported insights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retrieval is generally fixed and does not adapt to the research requirement.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intelligent financial research system that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 research tasks, retrieves relevant evidence,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information, validates its findings, and provides reliable insights with human oversight.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6779" y="6245225"/>
            <a:ext cx="3633537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C9D8EDA8-3633-AC09-7D9C-296F6AC53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437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User and Stakeholder Analysis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Researchers / Analysts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Quickly gather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about companies and markets.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/ Decision Makers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Understand financial performance, opportunities, and potential risks.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/ Researchers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 structured financial research using multiple reliable sources. </a:t>
            </a:r>
          </a:p>
          <a:p>
            <a:pPr marL="0" lv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evidence-backed financial research reports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financial insights, market information, risk analysis, and supporting sources.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10525" y="6245225"/>
            <a:ext cx="3288633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444656B0-4AB8-FF72-C7A6-A154F04CD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122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Proposed agentic AI solution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FinSight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financial research and analysis.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Agent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Understands the user query and breaks it into research tasks.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Research Agent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Retrieves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reports, filings, and company information.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Data Agent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Retrieves market data and performs relevant calculations.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&amp; Sentiment Agent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Retrieves relevant news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sentiment.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Agent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financial, market, competitive, and regulatory risks.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Agent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the findings into a structured financial research report.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Agent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Verifies evidence and identifies unsupported or incomplete findings.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2610" y="6245225"/>
            <a:ext cx="3569369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D65E5139-7097-676C-167B-BE13BE86B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794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6779-F69C-9D76-18CD-D5338194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Dataset and knowledge source </a:t>
            </a:r>
            <a:br>
              <a:rPr lang="en-IN" sz="3200" b="1" dirty="0">
                <a:solidFill>
                  <a:srgbClr val="FF0000"/>
                </a:solidFill>
              </a:rPr>
            </a:br>
            <a:r>
              <a:rPr lang="en-IN" sz="3200" b="1" dirty="0">
                <a:solidFill>
                  <a:srgbClr val="FF0000"/>
                </a:solidFill>
              </a:rPr>
              <a:t>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1583-09A8-A345-845F-500096485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Reports &amp; Company Filings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Source: SEC EDGAR / Company Investor Relations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Annual reports, quarterly reports and financial statements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&amp; Financial Data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Source: Alpha Vantage APIs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Historical prices, volume and financial indicators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Sources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Company filings and financial reports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Regulatory disclosures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Financial news and industry reports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Company announcements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3264-85B4-5D97-C619-D795C3E5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FB832-4D90-9F62-76E2-BBB86AF7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0632" y="6245225"/>
            <a:ext cx="3793957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F309-169C-30CC-3243-FADCEC29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5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5FA2B32F-AFB8-959D-D1C0-6A3468374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94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625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Selection of tools and Framework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859186"/>
            <a:ext cx="10668000" cy="4267200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Vector Store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/ PostgreSQL – Stores user queries, workflow state, and report history</a:t>
            </a: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and retrieves financial document embeddings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GPT-4 / QWEN (pick per availability) – Generates agent reasoning and report synthesis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Frameworks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RAG, tool integration, retrievers</a:t>
            </a: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Multi-agent workflow, state management, HITL checkpoints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Transformers(all-MiniLM-L6-v2) – Text embeddings for document chunks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8653" y="6245225"/>
            <a:ext cx="3681663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78CA9CB2-2CAB-EA5E-F697-828BFCA75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286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5F29-56B5-5B54-B67A-74810E36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Selection of tools and Framework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B84E7-D2FE-DA5D-97BE-189AAA72D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797529"/>
            <a:ext cx="10668000" cy="4301346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Tool Sources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 EDGAR / Company filings – Financial document ingestion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APIs (Alpha Vantage) – Market/stock data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News/Search APIs – Recent developments and industry news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14 + React 18 + TypeScript + Tailwind CSS – Interactive research interface for user queries and reports</a:t>
            </a: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API and agent orchestration services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market charts and financial trends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– Evaluation graphs (accuracy, hallucination rate, retrieval cost comparisons)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8C207-F3DD-C06A-9339-DA9F3A35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074D-CD09-5729-69EE-D0835DD1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18176-7778-4C58-9588-C81FD5CC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7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0A6EDD20-229F-76B4-B93E-ECD7E65A9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122" y="112033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666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F017-44C5-93C2-917A-BCBBF5D8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1"/>
            <a:ext cx="10668000" cy="70485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Architecture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605A5-C26B-13C4-1C0A-A247C91D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66F6-45B8-9D0C-6F46-01E6F4A1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E6FEC-C2CB-8DCB-599C-9A1B0384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8</a:t>
            </a:fld>
            <a:endParaRPr lang="en-US" alt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61139E4-3B19-8DCC-02FE-1108E0AED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5448" y="704851"/>
            <a:ext cx="11663510" cy="538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55F01403-A831-8616-0221-110354EE0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272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726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AB33-B85E-2646-FC65-71C56D96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0"/>
            <a:ext cx="10668000" cy="1216025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Agent workflow and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72D1-19A9-2359-992D-C01936B4B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submits a financial research question (e.g., company + analysis areas)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Planner Agent decomposes the question into research tasks and assigns agents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Retrieval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Financial, Market Data, and News Agents gather evidence in parallel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Risk Agent identifies and evidence-links potential risk factors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Synthesis Agent combines all agent outputs into one coherent analysis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Validation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Critic Agent checks coverage, contradictions, and unsupported claims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Validation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approves, rejects, or redirects specific findings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1243B-C341-9A06-2FA3-49B16C99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7908B-D9AA-4A4B-604B-4F3D7AC2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F640C-6D0B-B48A-BAF7-D13786C6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9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3D87ADF-B548-85E3-687E-95B1A896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943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416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251E-D218-B582-7A93-B08A2527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Agentic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0405-0E64-E4C0-FD5A-3165534CC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Identification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Financial Agent determines what evidence is required (e.g., revenue, cash flow)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Generation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Agent creates a targeted retrieval query for the vector DB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Retrieval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Fetches relevant chunks from company filings and reports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Evaluation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Checks coverage, source quality, recency, and contradictions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Retrieval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If evidence is insufficient, generates a refined query and retrieves again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Comparison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Evaluates No-RAG, Basic RAG, and Agentic RAG on accuracy, hallucination rate, and retrieval cost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1821C-2049-0E5C-C62F-9DC45F9D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EF521-F6C8-8F4A-A653-CFF9DBCC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0335-D47B-81D5-BC32-B1A9FD8F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10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6B9B0992-5DD6-BFE6-AA79-148E9CCB6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466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118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C7C6-4A91-7F5E-CDEF-A7BFE595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Human-in-the-Loop (HITL)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16D4-AE13-C554-D2D0-21A665EF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10881383" cy="4267200"/>
          </a:xfrm>
        </p:spPr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Findings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 generates key findings with confidence levels (High/Medium/Low)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Review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inspects each finding along with its supporting evidence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Accepts the finding as-is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Flags a finding as outdated, wrong, or insufficiently supported, with feedback (e.g., "regulatory source is outdated")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Re-Planning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Re-planner uses the feedback to trigger targeted retrieval on only the affected topic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Re-analysis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Only the relevant agents (e.g., News → Risk → Synthesis) re-run, not the full pipeline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Human re-reviews the updated finding before the final report is generated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B5659-0A9D-BAB0-4A0B-A0F41325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E4F5E-CA07-DC3B-75EE-BAA5FCD2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7B64-7575-8466-8489-5F4DD74B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11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794E9FC-714D-D84B-B5BE-6944A598A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7018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C5B9-B922-562E-9412-2A189ED1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92F9-36B7-8E68-C986-EB88E4C26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Prototype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Dashboard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Query formulation and company selection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Execution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Planning → SEC / Market / News → Synthesis → Verification → HITL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Trace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 chunks, citations and source provenance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HITL Audit Console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Approve, Edit and Reject findings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Dashboard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Verified KPIs and financial trend charts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Audited findings, evidence limitations and PDF export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AED63-5250-55FC-5329-A8A8AC92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26310-D758-12BF-B8B1-5B4443F2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C1BAC-8E13-B9B9-9CD8-6665CD9F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12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BC61C769-75F7-8608-FF2B-A62A618AA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11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C7F4-6B1F-F1D8-627B-C7FC1FD56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0B679-0EF2-180E-A01D-722684E3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Source-Code Repository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Next.js 14, React, Tailwind CSS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Planner, Financial Research, Market Data, News, Risk, Synthesis, Verifier, Critic,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Replanner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SEC filings + Alpha Vantage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49 automated tests + benchmark suite</a:t>
            </a:r>
          </a:p>
          <a:p>
            <a:endParaRPr lang="en-IN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AF5B7-B0C9-A388-360A-E76F70EA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70AAF-3DA0-27AD-177F-214967C5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148BC-7A79-407E-8783-72D292A2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13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A446928D-8C81-43F1-F589-DAAC7E105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138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028D-5FB8-92DE-4317-C332FCE7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EXPERIMENTAL EVALUATION 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AND RESULTS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AF9AE88-AC5A-3F04-EF16-3EC07E32E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384683"/>
              </p:ext>
            </p:extLst>
          </p:nvPr>
        </p:nvGraphicFramePr>
        <p:xfrm>
          <a:off x="812800" y="2015735"/>
          <a:ext cx="10668000" cy="20773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1859596333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679999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Metric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FinSight Result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2243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Core regression test pass rate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100% (23/23)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7349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Expanded automated test pass rate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100% (49/49)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20134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Routing intent accuracy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100% (5/5)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26464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News relevance test success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100% (6/6)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43435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Numerical verification tests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100% (12/12)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6587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Finsight</a:t>
                      </a:r>
                      <a:r>
                        <a:rPr lang="en-IN" sz="1100" kern="100" dirty="0">
                          <a:effectLst/>
                        </a:rPr>
                        <a:t> Citation accuracy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90.0%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8307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Basic RAG citation accuracy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67.5%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8363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Finsight</a:t>
                      </a:r>
                      <a:r>
                        <a:rPr lang="en-IN" sz="1100" kern="100" dirty="0">
                          <a:effectLst/>
                        </a:rPr>
                        <a:t> Hallucination rate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10.0%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4615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Basic RAG hallucination rate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32.5%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4110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No-RAG hallucination rate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42.5%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519359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A5D76-E83A-52D1-9C50-E184E9D4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2EAA9-5A2F-07D2-812E-DECF0D9D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4A5DC-92B8-25F4-6FEA-D994EA23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14</a:t>
            </a:fld>
            <a:endParaRPr lang="en-US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D1B5AC-C587-652D-F4C6-AC9279423165}"/>
              </a:ext>
            </a:extLst>
          </p:cNvPr>
          <p:cNvSpPr txBox="1"/>
          <p:nvPr/>
        </p:nvSpPr>
        <p:spPr>
          <a:xfrm>
            <a:off x="766233" y="4167886"/>
            <a:ext cx="1048177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Methodology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→ Intent Routing → RAG / Market / News → Verification → Critic → HITL → Final Report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&amp; integration testing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and retrieval testing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754C2-E730-21DE-3040-4705C00CBEC3}"/>
              </a:ext>
            </a:extLst>
          </p:cNvPr>
          <p:cNvSpPr txBox="1"/>
          <p:nvPr/>
        </p:nvSpPr>
        <p:spPr>
          <a:xfrm>
            <a:off x="702323" y="1646403"/>
            <a:ext cx="6094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pic>
        <p:nvPicPr>
          <p:cNvPr id="20" name="Picture 1">
            <a:extLst>
              <a:ext uri="{FF2B5EF4-FFF2-40B4-BE49-F238E27FC236}">
                <a16:creationId xmlns:a16="http://schemas.microsoft.com/office/drawing/2014/main" id="{52B2A6E2-D960-13BA-2CE0-19A2D32EF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756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60A6-9562-96C0-E2FD-58C5BB81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6B468-5137-087C-FDC6-998468214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relevance testing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verification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~22.4 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~24.1 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~21.8 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LLM calls/run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FinSight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 citation accuracy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reduced hallucination to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compared with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67.5% / 32.5%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Basic RAG.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DF3A1-A913-D21F-52EC-8763C329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Zeroth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9CB54-3BB1-4F79-9390-FFE55606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772E6-295A-4DAC-7E38-847069D7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15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5A662F39-C7A3-E5C9-F76E-C648D3F8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0207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3568-9CAE-1C22-641E-2C7F69B7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COMPARISON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AA405D3-0C50-37C0-532B-B68AE65C6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507681"/>
              </p:ext>
            </p:extLst>
          </p:nvPr>
        </p:nvGraphicFramePr>
        <p:xfrm>
          <a:off x="854694" y="2079188"/>
          <a:ext cx="10482611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5851">
                  <a:extLst>
                    <a:ext uri="{9D8B030D-6E8A-4147-A177-3AD203B41FA5}">
                      <a16:colId xmlns:a16="http://schemas.microsoft.com/office/drawing/2014/main" val="1766105024"/>
                    </a:ext>
                  </a:extLst>
                </a:gridCol>
                <a:gridCol w="2575851">
                  <a:extLst>
                    <a:ext uri="{9D8B030D-6E8A-4147-A177-3AD203B41FA5}">
                      <a16:colId xmlns:a16="http://schemas.microsoft.com/office/drawing/2014/main" val="935402555"/>
                    </a:ext>
                  </a:extLst>
                </a:gridCol>
                <a:gridCol w="2575851">
                  <a:extLst>
                    <a:ext uri="{9D8B030D-6E8A-4147-A177-3AD203B41FA5}">
                      <a16:colId xmlns:a16="http://schemas.microsoft.com/office/drawing/2014/main" val="2108423123"/>
                    </a:ext>
                  </a:extLst>
                </a:gridCol>
                <a:gridCol w="2755058">
                  <a:extLst>
                    <a:ext uri="{9D8B030D-6E8A-4147-A177-3AD203B41FA5}">
                      <a16:colId xmlns:a16="http://schemas.microsoft.com/office/drawing/2014/main" val="2447999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No-RAG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FinSight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821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Evidence Grounding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 Agentic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946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Query Decomposition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797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Numerical Verification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25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News Filtering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851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Quality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 Fail-Closed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897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 HITL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57226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98DF3-071D-86B4-D552-46E36358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01CA8-EF77-BF24-2BA0-3D7264B5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5A8F4-1528-79A6-B47A-400FEA56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16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B2C856-6F27-F965-71C8-AA9DECC62E93}"/>
              </a:ext>
            </a:extLst>
          </p:cNvPr>
          <p:cNvSpPr txBox="1"/>
          <p:nvPr/>
        </p:nvSpPr>
        <p:spPr>
          <a:xfrm>
            <a:off x="766233" y="1669852"/>
            <a:ext cx="60945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BASELINES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0F9FF21F-1D12-5341-8DA8-F06EFED65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7402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F5A1-D94B-49E6-61CB-D0B5E37A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5BED3-5E5F-FC18-7560-F66EE3544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INNOVATIONS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Deterministic Causal Attribution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Separates verified financial figures from unsupported causes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Multi-Tier News Relevance Filtering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Rejects irrelevant portfolio/ticker noise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Fail-Closed Coverage Ledger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evidence limitations instead of fabricating missing data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Human-in-the-Loop Revalidation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Analyst edits are re-verified before publication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F0596-A850-DDF7-5EC5-2FB7D80C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CF26-A586-671B-DF4A-58599B7A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2B0C-36C2-E76A-37F3-E4BC9B7F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17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CAA9DB66-88C3-5817-9720-998DCE6E7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8449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35528-120C-435F-62DE-5CB6ADC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 AND FUTUREWORK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1EAE4-D844-E1E9-7AC3-A3E5B627D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799" y="1749425"/>
            <a:ext cx="11755887" cy="4267200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FinSight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agentic research, evidence retrieval, deterministic verification and human oversight to produce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auditable and evidence-grounded financial research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financial document corpus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live SEC data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news-source coverage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Parallelize research tasks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&amp; multi-user support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Query → Evidence → Verification → Human Audit → Trusted Research Report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99200-594C-A0E9-E719-A0BE8568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565AD-12C6-732B-DA35-F5C03773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C65E6-F86C-C82F-AF4B-CDFB73C2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18</a:t>
            </a:fld>
            <a:endParaRPr lang="en-US" altLang="en-US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832E53D7-6741-84D2-B8D1-84B2D2ECD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673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19</a:t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1AF135E2-B6C3-3597-94CB-C1D4DA06F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1365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1493</Words>
  <Application>Microsoft Office PowerPoint</Application>
  <PresentationFormat>Widescreen</PresentationFormat>
  <Paragraphs>231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User and Stakeholder Analysis</vt:lpstr>
      <vt:lpstr>Proposed agentic AI solution</vt:lpstr>
      <vt:lpstr>Dataset and knowledge source  identification</vt:lpstr>
      <vt:lpstr>Selection of tools and Framework</vt:lpstr>
      <vt:lpstr>Selection of tools and Framework</vt:lpstr>
      <vt:lpstr>Architecture Diagram</vt:lpstr>
      <vt:lpstr>Agent workflow and Orchestration</vt:lpstr>
      <vt:lpstr>Agentic RAG</vt:lpstr>
      <vt:lpstr>Human-in-the-Loop (HITL)</vt:lpstr>
      <vt:lpstr>SYSTEM IMPLEMENTATION</vt:lpstr>
      <vt:lpstr>PowerPoint Presentation</vt:lpstr>
      <vt:lpstr>EXPERIMENTAL EVALUATION  AND RESULTS</vt:lpstr>
      <vt:lpstr>PowerPoint Presentation</vt:lpstr>
      <vt:lpstr>COMPARISON</vt:lpstr>
      <vt:lpstr>INNOVATION</vt:lpstr>
      <vt:lpstr>CONCLUSION AND FUTUREWORK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M.Kishanth Raja</cp:lastModifiedBy>
  <cp:revision>11</cp:revision>
  <dcterms:created xsi:type="dcterms:W3CDTF">2025-07-29T03:52:08Z</dcterms:created>
  <dcterms:modified xsi:type="dcterms:W3CDTF">2026-10-05T08:44:15Z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